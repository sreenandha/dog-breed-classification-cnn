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03" r:id="rId2"/>
    <p:sldId id="304" r:id="rId3"/>
    <p:sldId id="305" r:id="rId4"/>
    <p:sldId id="306" r:id="rId5"/>
    <p:sldId id="319" r:id="rId6"/>
    <p:sldId id="307" r:id="rId7"/>
    <p:sldId id="308" r:id="rId8"/>
    <p:sldId id="320" r:id="rId9"/>
    <p:sldId id="324" r:id="rId10"/>
    <p:sldId id="309" r:id="rId11"/>
    <p:sldId id="310" r:id="rId12"/>
    <p:sldId id="311" r:id="rId13"/>
    <p:sldId id="312" r:id="rId14"/>
    <p:sldId id="322" r:id="rId15"/>
    <p:sldId id="323" r:id="rId16"/>
    <p:sldId id="325" r:id="rId17"/>
    <p:sldId id="321" r:id="rId18"/>
    <p:sldId id="314" r:id="rId19"/>
    <p:sldId id="326" r:id="rId20"/>
    <p:sldId id="327" r:id="rId21"/>
    <p:sldId id="317" r:id="rId2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40"/>
  </p:normalViewPr>
  <p:slideViewPr>
    <p:cSldViewPr>
      <p:cViewPr varScale="1">
        <p:scale>
          <a:sx n="124" d="100"/>
          <a:sy n="124" d="100"/>
        </p:scale>
        <p:origin x="732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8dabf9301e6dcf6" providerId="LiveId" clId="{4D1B5F5C-861F-4B0B-BA0C-832C7A515022}"/>
    <pc:docChg chg="modSld sldOrd">
      <pc:chgData name="" userId="08dabf9301e6dcf6" providerId="LiveId" clId="{4D1B5F5C-861F-4B0B-BA0C-832C7A515022}" dt="2024-05-15T23:02:40.252" v="97" actId="20577"/>
      <pc:docMkLst>
        <pc:docMk/>
      </pc:docMkLst>
      <pc:sldChg chg="modSp">
        <pc:chgData name="" userId="08dabf9301e6dcf6" providerId="LiveId" clId="{4D1B5F5C-861F-4B0B-BA0C-832C7A515022}" dt="2024-05-15T22:29:29.478" v="77" actId="1076"/>
        <pc:sldMkLst>
          <pc:docMk/>
          <pc:sldMk cId="4209808237" sldId="303"/>
        </pc:sldMkLst>
        <pc:spChg chg="mod">
          <ac:chgData name="" userId="08dabf9301e6dcf6" providerId="LiveId" clId="{4D1B5F5C-861F-4B0B-BA0C-832C7A515022}" dt="2024-05-15T22:29:29.478" v="77" actId="1076"/>
          <ac:spMkLst>
            <pc:docMk/>
            <pc:sldMk cId="4209808237" sldId="303"/>
            <ac:spMk id="2" creationId="{6772872D-26D7-46C8-9044-BCED5579965F}"/>
          </ac:spMkLst>
        </pc:spChg>
        <pc:spChg chg="mod">
          <ac:chgData name="" userId="08dabf9301e6dcf6" providerId="LiveId" clId="{4D1B5F5C-861F-4B0B-BA0C-832C7A515022}" dt="2024-05-15T22:29:19.173" v="76" actId="20577"/>
          <ac:spMkLst>
            <pc:docMk/>
            <pc:sldMk cId="4209808237" sldId="303"/>
            <ac:spMk id="3" creationId="{7E39023F-6DE8-43C3-AC95-65666C4DDA26}"/>
          </ac:spMkLst>
        </pc:spChg>
      </pc:sldChg>
      <pc:sldChg chg="modSp">
        <pc:chgData name="" userId="08dabf9301e6dcf6" providerId="LiveId" clId="{4D1B5F5C-861F-4B0B-BA0C-832C7A515022}" dt="2024-05-15T22:24:40.045" v="53" actId="1076"/>
        <pc:sldMkLst>
          <pc:docMk/>
          <pc:sldMk cId="2667363304" sldId="304"/>
        </pc:sldMkLst>
        <pc:spChg chg="mod">
          <ac:chgData name="" userId="08dabf9301e6dcf6" providerId="LiveId" clId="{4D1B5F5C-861F-4B0B-BA0C-832C7A515022}" dt="2024-05-15T22:24:40.045" v="53" actId="1076"/>
          <ac:spMkLst>
            <pc:docMk/>
            <pc:sldMk cId="2667363304" sldId="304"/>
            <ac:spMk id="11" creationId="{986EDC86-2857-4BCA-8EC4-A1F56D030BE2}"/>
          </ac:spMkLst>
        </pc:spChg>
      </pc:sldChg>
      <pc:sldChg chg="modSp">
        <pc:chgData name="" userId="08dabf9301e6dcf6" providerId="LiveId" clId="{4D1B5F5C-861F-4B0B-BA0C-832C7A515022}" dt="2024-05-15T22:24:51.540" v="57" actId="1076"/>
        <pc:sldMkLst>
          <pc:docMk/>
          <pc:sldMk cId="2177881545" sldId="305"/>
        </pc:sldMkLst>
        <pc:spChg chg="mod">
          <ac:chgData name="" userId="08dabf9301e6dcf6" providerId="LiveId" clId="{4D1B5F5C-861F-4B0B-BA0C-832C7A515022}" dt="2024-05-15T22:24:51.540" v="57" actId="1076"/>
          <ac:spMkLst>
            <pc:docMk/>
            <pc:sldMk cId="2177881545" sldId="305"/>
            <ac:spMk id="3" creationId="{7E39023F-6DE8-43C3-AC95-65666C4DDA26}"/>
          </ac:spMkLst>
        </pc:spChg>
      </pc:sldChg>
      <pc:sldChg chg="addSp modSp">
        <pc:chgData name="" userId="08dabf9301e6dcf6" providerId="LiveId" clId="{4D1B5F5C-861F-4B0B-BA0C-832C7A515022}" dt="2024-05-15T22:30:23.078" v="80" actId="1076"/>
        <pc:sldMkLst>
          <pc:docMk/>
          <pc:sldMk cId="958039278" sldId="307"/>
        </pc:sldMkLst>
        <pc:spChg chg="mod">
          <ac:chgData name="" userId="08dabf9301e6dcf6" providerId="LiveId" clId="{4D1B5F5C-861F-4B0B-BA0C-832C7A515022}" dt="2024-05-15T22:15:20.557" v="10" actId="207"/>
          <ac:spMkLst>
            <pc:docMk/>
            <pc:sldMk cId="958039278" sldId="307"/>
            <ac:spMk id="2" creationId="{6772872D-26D7-46C8-9044-BCED5579965F}"/>
          </ac:spMkLst>
        </pc:spChg>
        <pc:spChg chg="mod">
          <ac:chgData name="" userId="08dabf9301e6dcf6" providerId="LiveId" clId="{4D1B5F5C-861F-4B0B-BA0C-832C7A515022}" dt="2024-05-15T22:15:01.877" v="5" actId="20577"/>
          <ac:spMkLst>
            <pc:docMk/>
            <pc:sldMk cId="958039278" sldId="307"/>
            <ac:spMk id="3" creationId="{7E39023F-6DE8-43C3-AC95-65666C4DDA26}"/>
          </ac:spMkLst>
        </pc:spChg>
        <pc:picChg chg="add mod">
          <ac:chgData name="" userId="08dabf9301e6dcf6" providerId="LiveId" clId="{4D1B5F5C-861F-4B0B-BA0C-832C7A515022}" dt="2024-05-15T22:30:23.078" v="80" actId="1076"/>
          <ac:picMkLst>
            <pc:docMk/>
            <pc:sldMk cId="958039278" sldId="307"/>
            <ac:picMk id="5" creationId="{903483CA-571C-4611-8862-4BB8B6C298FE}"/>
          </ac:picMkLst>
        </pc:picChg>
      </pc:sldChg>
      <pc:sldChg chg="modSp">
        <pc:chgData name="" userId="08dabf9301e6dcf6" providerId="LiveId" clId="{4D1B5F5C-861F-4B0B-BA0C-832C7A515022}" dt="2024-05-15T22:26:02.855" v="59" actId="1076"/>
        <pc:sldMkLst>
          <pc:docMk/>
          <pc:sldMk cId="2328255039" sldId="308"/>
        </pc:sldMkLst>
        <pc:spChg chg="mod">
          <ac:chgData name="" userId="08dabf9301e6dcf6" providerId="LiveId" clId="{4D1B5F5C-861F-4B0B-BA0C-832C7A515022}" dt="2024-05-15T22:26:02.855" v="59" actId="1076"/>
          <ac:spMkLst>
            <pc:docMk/>
            <pc:sldMk cId="2328255039" sldId="308"/>
            <ac:spMk id="3" creationId="{7E39023F-6DE8-43C3-AC95-65666C4DDA26}"/>
          </ac:spMkLst>
        </pc:spChg>
      </pc:sldChg>
      <pc:sldChg chg="ord">
        <pc:chgData name="" userId="08dabf9301e6dcf6" providerId="LiveId" clId="{4D1B5F5C-861F-4B0B-BA0C-832C7A515022}" dt="2024-05-15T22:21:35.835" v="14"/>
        <pc:sldMkLst>
          <pc:docMk/>
          <pc:sldMk cId="3305545104" sldId="309"/>
        </pc:sldMkLst>
      </pc:sldChg>
      <pc:sldChg chg="ord">
        <pc:chgData name="" userId="08dabf9301e6dcf6" providerId="LiveId" clId="{4D1B5F5C-861F-4B0B-BA0C-832C7A515022}" dt="2024-05-15T22:30:00.798" v="78"/>
        <pc:sldMkLst>
          <pc:docMk/>
          <pc:sldMk cId="1091087929" sldId="320"/>
        </pc:sldMkLst>
      </pc:sldChg>
      <pc:sldChg chg="ord">
        <pc:chgData name="" userId="08dabf9301e6dcf6" providerId="LiveId" clId="{4D1B5F5C-861F-4B0B-BA0C-832C7A515022}" dt="2024-05-15T22:59:56.351" v="81"/>
        <pc:sldMkLst>
          <pc:docMk/>
          <pc:sldMk cId="2194035582" sldId="322"/>
        </pc:sldMkLst>
      </pc:sldChg>
      <pc:sldChg chg="ord">
        <pc:chgData name="" userId="08dabf9301e6dcf6" providerId="LiveId" clId="{4D1B5F5C-861F-4B0B-BA0C-832C7A515022}" dt="2024-05-15T22:30:02.123" v="79"/>
        <pc:sldMkLst>
          <pc:docMk/>
          <pc:sldMk cId="593080248" sldId="324"/>
        </pc:sldMkLst>
      </pc:sldChg>
      <pc:sldChg chg="modSp">
        <pc:chgData name="" userId="08dabf9301e6dcf6" providerId="LiveId" clId="{4D1B5F5C-861F-4B0B-BA0C-832C7A515022}" dt="2024-05-15T23:02:40.252" v="97" actId="20577"/>
        <pc:sldMkLst>
          <pc:docMk/>
          <pc:sldMk cId="293465710" sldId="326"/>
        </pc:sldMkLst>
        <pc:spChg chg="mod">
          <ac:chgData name="" userId="08dabf9301e6dcf6" providerId="LiveId" clId="{4D1B5F5C-861F-4B0B-BA0C-832C7A515022}" dt="2024-05-15T23:02:40.252" v="97" actId="20577"/>
          <ac:spMkLst>
            <pc:docMk/>
            <pc:sldMk cId="293465710" sldId="326"/>
            <ac:spMk id="3" creationId="{7E39023F-6DE8-43C3-AC95-65666C4DDA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1D9E7-2175-4DCC-99A4-ECAC6D428164}" type="datetimeFigureOut">
              <a:rPr lang="en-AE" smtClean="0"/>
              <a:t>15/05/2024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08828-FE70-45E6-AA81-BFD1CA5910A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463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3726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456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7459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513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7778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5200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7440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3161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6136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0491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52430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40463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80453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10743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4933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66822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5790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18772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20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27964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8828-FE70-45E6-AA81-BFD1CA5910A5}" type="slidenum">
              <a:rPr lang="en-AE" smtClean="0"/>
              <a:t>21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0013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59445" y="4144200"/>
            <a:ext cx="984549" cy="9992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3999" cy="5714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8600" y="65336"/>
            <a:ext cx="1913424" cy="4408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621" y="1250771"/>
            <a:ext cx="8201025" cy="2268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7" y="1556087"/>
            <a:ext cx="8010525" cy="2031325"/>
          </a:xfrm>
        </p:spPr>
        <p:txBody>
          <a:bodyPr/>
          <a:lstStyle/>
          <a:p>
            <a:pPr algn="ctr"/>
            <a:r>
              <a:rPr lang="en-IN" sz="4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DOG BREED CLASSIFICATION USING CNN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225" y="4019550"/>
            <a:ext cx="8201025" cy="1231106"/>
          </a:xfrm>
        </p:spPr>
        <p:txBody>
          <a:bodyPr/>
          <a:lstStyle/>
          <a:p>
            <a:pPr algn="l"/>
            <a:r>
              <a:rPr lang="en-US" sz="1400" b="1" i="1" dirty="0">
                <a:solidFill>
                  <a:schemeClr val="tx1"/>
                </a:solidFill>
              </a:rPr>
              <a:t>Prof</a:t>
            </a:r>
            <a:r>
              <a:rPr lang="en-US" sz="1400" dirty="0">
                <a:solidFill>
                  <a:schemeClr val="tx1"/>
                </a:solidFill>
              </a:rPr>
              <a:t>. Harith </a:t>
            </a:r>
            <a:r>
              <a:rPr lang="en-US" sz="1400" dirty="0" err="1">
                <a:solidFill>
                  <a:schemeClr val="tx1"/>
                </a:solidFill>
              </a:rPr>
              <a:t>Yanam</a:t>
            </a:r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Team: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Sree Nandha (QX54175) &amp;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Saroj Kumandan (EI34057)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98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E638535-E2B9-412F-B376-584070C3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6EDC86-2857-4BCA-8EC4-A1F56D030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04950"/>
            <a:ext cx="8201025" cy="33239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Project Description &amp; 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Project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Collection &amp;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Model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Training &amp;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363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90550"/>
            <a:ext cx="8010525" cy="1533772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&amp; PROBLEM STATEMENT</a:t>
            </a:r>
            <a:br>
              <a:rPr lang="en-IN" sz="2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7" y="1657350"/>
            <a:ext cx="8201025" cy="3231654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-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image classification system to identify dog breeds.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Utilized big data tool such as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for veterinary care and supported pet adoption processes.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dog breed identification is error-prone.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Misidentification can lead to inadequate care and adoption mismatches.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reliable system leveraging machine learning and big data technologies.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scale to handle large datasets efficiently.</a:t>
            </a:r>
          </a:p>
          <a:p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88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81150"/>
            <a:ext cx="8201025" cy="2714654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Dataset sourced from the Stanford Dogs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Contains images of dogs labelled by breeds.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Includes a CSV file and JPG image files.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dataset comprises images from 120 different breeds.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dataset contains approximately 20,500 images, with each dog breed represented by around 150 to 250 images.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13DD44-B5FB-4B0B-AA5C-6810FBF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44387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934052"/>
            <a:ext cx="45719" cy="457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E0505-D470-4A4D-B506-9E1372D39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4" y="1268255"/>
            <a:ext cx="80105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7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PROJECT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250771"/>
            <a:ext cx="8201025" cy="492443"/>
          </a:xfrm>
        </p:spPr>
        <p:txBody>
          <a:bodyPr/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483CA-571C-4611-8862-4BB8B6C29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96992"/>
            <a:ext cx="7010400" cy="30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52550"/>
            <a:ext cx="7861850" cy="3693319"/>
          </a:xfrm>
        </p:spPr>
        <p:txBody>
          <a:bodyPr/>
          <a:lstStyle/>
          <a:p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data from URL using request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Unzipped the file using tarfile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was performed to check the data collection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paths of the images were stored in a spark data frame</a:t>
            </a:r>
          </a:p>
          <a:p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data cleaning and preprocessing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got dimensions using UDF and added features like height, width and height-width ratio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image sizes and formats for consistency.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to grayscale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825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01E388-F471-4435-BA77-DABAD7261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7584"/>
            <a:ext cx="9144000" cy="42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8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1805F-1723-F797-D802-3CE35CBB2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42950"/>
            <a:ext cx="827008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8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903" y="1065371"/>
            <a:ext cx="8201025" cy="1415772"/>
          </a:xfrm>
        </p:spPr>
        <p:txBody>
          <a:bodyPr/>
          <a:lstStyle/>
          <a:p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images to a consistent shape.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some of the sample images.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7F8E6-0EEB-4451-AC8D-8A56C8941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5550"/>
            <a:ext cx="9144000" cy="239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4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644000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45" y="1504950"/>
            <a:ext cx="8201025" cy="307776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Developed a Convolutional Neural Network (CNN) for image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Utilized transfer learning with the Sequential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Model architecture was designed to learn from thousands of images across numerous dog breeds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model contains 5 (Conv2D) and MaxPooling2D layers, followed by a Dropout layer, designed for effective feature extraction and dimensionality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model ends with a Dense layer for classification, In total, this architecture consists of 19 layers, specifically tailored for processing and classifying images of dog breeds.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93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73" y="819150"/>
            <a:ext cx="8010525" cy="769441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7" y="1351628"/>
            <a:ext cx="8201025" cy="3791872"/>
          </a:xfrm>
        </p:spPr>
        <p:txBody>
          <a:bodyPr/>
          <a:lstStyle/>
          <a:p>
            <a:r>
              <a:rPr lang="en-IN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Bullet Points: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Layers: Conv2D, MaxPooling2D, Dropout, Dense, Flatten.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function: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normalisation layers to improve training stability.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has been split into an 80:20 ratio for training and testing, with 14,406 images allocated to the training set and 6,174 images to the testing set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27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984885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EVALUATION</a:t>
            </a:r>
            <a:b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250770"/>
            <a:ext cx="8201025" cy="3016210"/>
          </a:xfrm>
        </p:spPr>
        <p:txBody>
          <a:bodyPr/>
          <a:lstStyle/>
          <a:p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the model on a large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validation and tuning to improve accuracy.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(callbacks) Early stopping and checkpointing to prevent overfitting.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learning rate scheduling to optimize training.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ran 100 epochs for training, with each epoch taking approximately 3 seconds to execute.</a:t>
            </a:r>
          </a:p>
          <a:p>
            <a:r>
              <a:rPr lang="en-US" sz="1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 using accuracy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were made to check that the model runs accurately</a:t>
            </a:r>
          </a:p>
        </p:txBody>
      </p:sp>
    </p:spTree>
    <p:extLst>
      <p:ext uri="{BB962C8B-B14F-4D97-AF65-F5344CB8AC3E}">
        <p14:creationId xmlns:p14="http://schemas.microsoft.com/office/powerpoint/2010/main" val="607654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0EA05-F4D2-4F20-9457-E4B7CDA7D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1"/>
            <a:ext cx="9144000" cy="3707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4323AD-980B-769F-BA74-CBE0810A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9244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ESTING MODEL</a:t>
            </a:r>
          </a:p>
        </p:txBody>
      </p:sp>
    </p:spTree>
    <p:extLst>
      <p:ext uri="{BB962C8B-B14F-4D97-AF65-F5344CB8AC3E}">
        <p14:creationId xmlns:p14="http://schemas.microsoft.com/office/powerpoint/2010/main" val="2194035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33" y="5905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85" y="1276350"/>
            <a:ext cx="8201025" cy="338554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the course of training our model for 100 epochs, we observed the following performance in the final 5 epochs. The training accuracy improved from 76.36% to 79.26%, while the validation accuracy started at 85.50%, fluctuated, and ended at 78.80%. 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on 14,406 images, the model's performance was evaluated on the test set, resulting in a test loss of 0.7593 and a test accuracy of 78.80%.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79.26%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accuracy: 78.80%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Loss: 0.7593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903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84AB31-7B2E-1B77-52F0-9523FAF6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7085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1BF72-E9F5-AB97-F39F-1BED7F604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1809750"/>
            <a:ext cx="8686801" cy="24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21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408A1-0156-4BF4-B10B-E80689AD9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150"/>
            <a:ext cx="9144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1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581150"/>
            <a:ext cx="8201025" cy="317631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Accuracy improved with a larger dataset size.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Out of 10 test samples, the model made 7 correct predictions (70% accuracy) and incorrectly classified 3 samples (30% misclassification rate)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After training on 14,406 images, the model achieved a test loss of 0.7593 and a test accuracy of 78.80%.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results suggest areas for further tuning and improvement, despite the model's overall strong performance with more data.</a:t>
            </a:r>
          </a:p>
        </p:txBody>
      </p:sp>
    </p:spTree>
    <p:extLst>
      <p:ext uri="{BB962C8B-B14F-4D97-AF65-F5344CB8AC3E}">
        <p14:creationId xmlns:p14="http://schemas.microsoft.com/office/powerpoint/2010/main" val="2779293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581150"/>
            <a:ext cx="8201025" cy="317631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Our CNN for dog breed classification used 20,500 images, split into 14,406 for training and 6,174 for testing. Training over 100 epochs improved accuracy significantly with larger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model achieved a test accuracy of 82.58% and a test loss of 0.6461. On a subset of 10 test samples, it correctly classified 7 (70% accuracy) and misclassified 3 (30% misclassification rate), highlighting areas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29346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1" y="819150"/>
            <a:ext cx="8010525" cy="492443"/>
          </a:xfrm>
        </p:spPr>
        <p:txBody>
          <a:bodyPr/>
          <a:lstStyle/>
          <a:p>
            <a:pPr algn="ctr"/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023F-6DE8-43C3-AC95-65666C4D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1" y="1581150"/>
            <a:ext cx="8201025" cy="132965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project demonstrated the effectiveness of CNNs for dog breed classification, with future work focusing on data augmentation, hyperparameter tuning, and advanced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4042015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872D-26D7-46C8-9044-BCED5579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85950"/>
            <a:ext cx="8010525" cy="452119"/>
          </a:xfrm>
        </p:spPr>
        <p:txBody>
          <a:bodyPr/>
          <a:lstStyle/>
          <a:p>
            <a:r>
              <a:rPr lang="en-IN" sz="8800" dirty="0">
                <a:solidFill>
                  <a:schemeClr val="tx2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467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</TotalTime>
  <Words>825</Words>
  <Application>Microsoft Office PowerPoint</Application>
  <PresentationFormat>On-screen Show (16:9)</PresentationFormat>
  <Paragraphs>115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 DOG BREED CLASSIFICATION USING CNN</vt:lpstr>
      <vt:lpstr>TABLE OF CONTENTS</vt:lpstr>
      <vt:lpstr>PROJECT DESCRIPTION &amp; PROBLEM STATEMENT </vt:lpstr>
      <vt:lpstr>DATASET OVERVIEW</vt:lpstr>
      <vt:lpstr>DATASET OVERVIEW</vt:lpstr>
      <vt:lpstr>PROJECT WORKFLOW</vt:lpstr>
      <vt:lpstr>DATA COLLECTION &amp; PREPROCESSING</vt:lpstr>
      <vt:lpstr>PowerPoint Presentation</vt:lpstr>
      <vt:lpstr>PowerPoint Presentation</vt:lpstr>
      <vt:lpstr>DATA PRE-PROCESSING</vt:lpstr>
      <vt:lpstr>MODEL DEVELOPMENT</vt:lpstr>
      <vt:lpstr> MODEL ARCHITECTURE </vt:lpstr>
      <vt:lpstr>TRAINING &amp; EVALUATION </vt:lpstr>
      <vt:lpstr>TESTING MODEL</vt:lpstr>
      <vt:lpstr>RESULTS</vt:lpstr>
      <vt:lpstr>RESULTS</vt:lpstr>
      <vt:lpstr>PowerPoint Presentation</vt:lpstr>
      <vt:lpstr>OBSERVATIONS</vt:lpstr>
      <vt:lpstr>CONCLUSION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Manjunatha_Bojja_EstherPriyadarshini_DATA603_FinalProjectPPT</dc:title>
  <dc:creator>Surya Teja Avvaru</dc:creator>
  <cp:lastModifiedBy>MSI</cp:lastModifiedBy>
  <cp:revision>56</cp:revision>
  <dcterms:created xsi:type="dcterms:W3CDTF">2024-05-03T01:31:46Z</dcterms:created>
  <dcterms:modified xsi:type="dcterms:W3CDTF">2024-05-16T00:31:14Z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